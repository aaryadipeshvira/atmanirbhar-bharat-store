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5"/>
  </p:notesMasterIdLst>
  <p:sldIdLst>
    <p:sldId id="256" r:id="rId5"/>
    <p:sldId id="259" r:id="rId6"/>
    <p:sldId id="258" r:id="rId7"/>
    <p:sldId id="260" r:id="rId8"/>
    <p:sldId id="261" r:id="rId9"/>
    <p:sldId id="262" r:id="rId10"/>
    <p:sldId id="263" r:id="rId11"/>
    <p:sldId id="264" r:id="rId12"/>
    <p:sldId id="265" r:id="rId13"/>
    <p:sldId id="266" r:id="rId14"/>
    <p:sldId id="267" r:id="rId15"/>
    <p:sldId id="270" r:id="rId16"/>
    <p:sldId id="271" r:id="rId17"/>
    <p:sldId id="268" r:id="rId18"/>
    <p:sldId id="269" r:id="rId19"/>
    <p:sldId id="273" r:id="rId20"/>
    <p:sldId id="274" r:id="rId21"/>
    <p:sldId id="275" r:id="rId22"/>
    <p:sldId id="276" r:id="rId23"/>
    <p:sldId id="27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10/8/2020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EE9517-8E69-4FF1-9294-E1E54A394BAE}" type="datetime1">
              <a:rPr lang="en-US" smtClean="0"/>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1A8E48-174D-4FEB-9E49-805E25B6E4DE}" type="datetime1">
              <a:rPr lang="en-US" smtClean="0"/>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78E718-7869-4C6F-963F-37646651C408}" type="datetime1">
              <a:rPr lang="en-US" smtClean="0"/>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AC8F81-CFCC-4380-95A1-3EA40326D83F}" type="datetime1">
              <a:rPr lang="en-US" smtClean="0"/>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F3D059-B916-4F7C-A4ED-4054F320AB5E}" type="datetime1">
              <a:rPr lang="en-US" smtClean="0"/>
              <a:t>10/8/2020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DC09DA-8BB6-47A9-8041-F86B534ABC44}" type="datetime1">
              <a:rPr lang="en-US" smtClean="0"/>
              <a:t>10/8/2020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AED52A-4DB9-477E-8FA6-EFA1723225C0}" type="datetime1">
              <a:rPr lang="en-US" smtClean="0"/>
              <a:t>10/8/2020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395BC2-041D-4BFD-90E5-0281AA95C4F8}" type="datetime1">
              <a:rPr lang="en-US" smtClean="0"/>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99882C83-E2E7-4E14-8989-44350B9DDE3D}" type="datetime1">
              <a:rPr lang="en-US" smtClean="0"/>
              <a:t>10/8/2020</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2DEFFE-95A2-43FF-99D5-6E7D22FB0B88}" type="datetime1">
              <a:rPr lang="en-US" smtClean="0"/>
              <a:t>10/8/2020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B028F6ED-3CC4-4AFC-845E-EA395F55A80F}" type="datetime1">
              <a:rPr lang="en-US" smtClean="0"/>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2E898A29-D8FB-46E0-94ED-76B45654629F}" type="datetime1">
              <a:rPr lang="en-US" smtClean="0"/>
              <a:t>10/8/2020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BF942-E3E4-447D-BFAE-5B5B25F76F4C}" type="datetime1">
              <a:rPr lang="en-US" smtClean="0"/>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54C4CE-C594-4506-B364-99EFEEFBB023}" type="datetime1">
              <a:rPr lang="en-US" smtClean="0"/>
              <a:t>10/8/2020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10/8/2020</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2839A1C-34CB-4C3C-8531-CA67525FD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4" name="Freeform: Shape 23">
            <a:extLst>
              <a:ext uri="{FF2B5EF4-FFF2-40B4-BE49-F238E27FC236}">
                <a16:creationId xmlns:a16="http://schemas.microsoft.com/office/drawing/2014/main" id="{FAC94EAF-F7F7-4727-AE69-A7036B4A5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B68617FD-A3DD-4B1B-A618-8B7F44A2DD42}"/>
              </a:ext>
            </a:extLst>
          </p:cNvPr>
          <p:cNvSpPr>
            <a:spLocks noGrp="1"/>
          </p:cNvSpPr>
          <p:nvPr>
            <p:ph type="ctrTitle"/>
          </p:nvPr>
        </p:nvSpPr>
        <p:spPr>
          <a:xfrm>
            <a:off x="6495494" y="3567680"/>
            <a:ext cx="4388529" cy="1431435"/>
          </a:xfrm>
          <a:effectLst/>
        </p:spPr>
        <p:txBody>
          <a:bodyPr anchor="ctr">
            <a:normAutofit fontScale="90000"/>
          </a:bodyPr>
          <a:lstStyle/>
          <a:p>
            <a:pPr algn="ctr"/>
            <a:r>
              <a:rPr lang="en-US" sz="4000" b="1" dirty="0">
                <a:solidFill>
                  <a:schemeClr val="bg1"/>
                </a:solidFill>
                <a:latin typeface="Times New Roman" panose="02020603050405020304" pitchFamily="18" charset="0"/>
                <a:cs typeface="Times New Roman" panose="02020603050405020304" pitchFamily="18" charset="0"/>
              </a:rPr>
              <a:t>AATMNIRBHAR BHART STORE </a:t>
            </a:r>
            <a:r>
              <a:rPr lang="en-US" sz="1200" b="1" dirty="0">
                <a:solidFill>
                  <a:schemeClr val="bg1"/>
                </a:solidFill>
                <a:latin typeface="Times New Roman" panose="02020603050405020304" pitchFamily="18" charset="0"/>
                <a:cs typeface="Times New Roman" panose="02020603050405020304" pitchFamily="18" charset="0"/>
              </a:rPr>
              <a:t>TM</a:t>
            </a:r>
            <a:br>
              <a:rPr lang="en-US" sz="2800" b="1" dirty="0">
                <a:solidFill>
                  <a:schemeClr val="bg1"/>
                </a:solidFill>
                <a:latin typeface="Times New Roman" panose="02020603050405020304" pitchFamily="18" charset="0"/>
                <a:cs typeface="Times New Roman" panose="02020603050405020304" pitchFamily="18" charset="0"/>
              </a:rPr>
            </a:br>
            <a:endParaRPr lang="en-US" sz="6600" dirty="0"/>
          </a:p>
        </p:txBody>
      </p:sp>
      <p:pic>
        <p:nvPicPr>
          <p:cNvPr id="5" name="Picture 4">
            <a:extLst>
              <a:ext uri="{FF2B5EF4-FFF2-40B4-BE49-F238E27FC236}">
                <a16:creationId xmlns:a16="http://schemas.microsoft.com/office/drawing/2014/main" id="{72973506-6589-45B9-91B8-9EB15CDBD024}"/>
              </a:ext>
            </a:extLst>
          </p:cNvPr>
          <p:cNvPicPr>
            <a:picLocks noChangeAspect="1"/>
          </p:cNvPicPr>
          <p:nvPr/>
        </p:nvPicPr>
        <p:blipFill>
          <a:blip r:embed="rId2"/>
          <a:stretch>
            <a:fillRect/>
          </a:stretch>
        </p:blipFill>
        <p:spPr>
          <a:xfrm>
            <a:off x="643468" y="1882694"/>
            <a:ext cx="3526890" cy="2747982"/>
          </a:xfrm>
          <a:prstGeom prst="rect">
            <a:avLst/>
          </a:prstGeom>
        </p:spPr>
      </p:pic>
      <p:sp>
        <p:nvSpPr>
          <p:cNvPr id="6" name="TextBox 5">
            <a:extLst>
              <a:ext uri="{FF2B5EF4-FFF2-40B4-BE49-F238E27FC236}">
                <a16:creationId xmlns:a16="http://schemas.microsoft.com/office/drawing/2014/main" id="{408E5CD1-D5B8-4FA7-826B-47CA64E123D9}"/>
              </a:ext>
            </a:extLst>
          </p:cNvPr>
          <p:cNvSpPr txBox="1"/>
          <p:nvPr/>
        </p:nvSpPr>
        <p:spPr>
          <a:xfrm>
            <a:off x="6635450" y="2056356"/>
            <a:ext cx="3764132" cy="1200329"/>
          </a:xfrm>
          <a:prstGeom prst="rect">
            <a:avLst/>
          </a:prstGeom>
          <a:noFill/>
        </p:spPr>
        <p:txBody>
          <a:bodyPr wrap="square" rtlCol="0">
            <a:spAutoFit/>
          </a:bodyPr>
          <a:lstStyle/>
          <a:p>
            <a:pPr algn="ctr"/>
            <a:r>
              <a:rPr lang="en-IN" sz="3600" b="1" dirty="0">
                <a:solidFill>
                  <a:schemeClr val="bg1"/>
                </a:solidFill>
                <a:latin typeface="Times New Roman" panose="02020603050405020304" pitchFamily="18" charset="0"/>
                <a:cs typeface="Times New Roman" panose="02020603050405020304" pitchFamily="18" charset="0"/>
              </a:rPr>
              <a:t>WELCOME TO ABS</a:t>
            </a:r>
          </a:p>
        </p:txBody>
      </p:sp>
      <p:sp>
        <p:nvSpPr>
          <p:cNvPr id="7" name="TextBox 6">
            <a:extLst>
              <a:ext uri="{FF2B5EF4-FFF2-40B4-BE49-F238E27FC236}">
                <a16:creationId xmlns:a16="http://schemas.microsoft.com/office/drawing/2014/main" id="{27FF5CD8-45B2-456E-A3F7-9045C29A827F}"/>
              </a:ext>
            </a:extLst>
          </p:cNvPr>
          <p:cNvSpPr txBox="1"/>
          <p:nvPr/>
        </p:nvSpPr>
        <p:spPr>
          <a:xfrm>
            <a:off x="7025226" y="4461399"/>
            <a:ext cx="3932808" cy="338554"/>
          </a:xfrm>
          <a:prstGeom prst="rect">
            <a:avLst/>
          </a:prstGeom>
          <a:noFill/>
        </p:spPr>
        <p:txBody>
          <a:bodyPr wrap="square" rtlCol="0">
            <a:spAutoFit/>
          </a:bodyPr>
          <a:lstStyle/>
          <a:p>
            <a:r>
              <a:rPr lang="en-IN" sz="1600" b="1" dirty="0">
                <a:solidFill>
                  <a:schemeClr val="bg1"/>
                </a:solidFill>
                <a:latin typeface="Times New Roman" panose="02020603050405020304" pitchFamily="18" charset="0"/>
                <a:cs typeface="Times New Roman" panose="02020603050405020304" pitchFamily="18" charset="0"/>
              </a:rPr>
              <a:t>Made for INDIA , Made in INDIA ...</a:t>
            </a:r>
          </a:p>
        </p:txBody>
      </p:sp>
    </p:spTree>
    <p:extLst>
      <p:ext uri="{BB962C8B-B14F-4D97-AF65-F5344CB8AC3E}">
        <p14:creationId xmlns:p14="http://schemas.microsoft.com/office/powerpoint/2010/main" val="4054774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016B-F3DA-4C57-867F-BE59566AA6AA}"/>
              </a:ext>
            </a:extLst>
          </p:cNvPr>
          <p:cNvSpPr>
            <a:spLocks noGrp="1"/>
          </p:cNvSpPr>
          <p:nvPr>
            <p:ph type="title"/>
          </p:nvPr>
        </p:nvSpPr>
        <p:spPr>
          <a:xfrm>
            <a:off x="810000" y="367289"/>
            <a:ext cx="10571998" cy="970450"/>
          </a:xfrm>
        </p:spPr>
        <p:txBody>
          <a:bodyPr/>
          <a:lstStyle/>
          <a:p>
            <a:r>
              <a:rPr lang="en-IN" dirty="0">
                <a:latin typeface="Times New Roman" panose="02020603050405020304" pitchFamily="18" charset="0"/>
                <a:cs typeface="Times New Roman" panose="02020603050405020304" pitchFamily="18" charset="0"/>
              </a:rPr>
              <a:t>What does </a:t>
            </a:r>
            <a:r>
              <a:rPr lang="en-IN" dirty="0" err="1">
                <a:latin typeface="Times New Roman" panose="02020603050405020304" pitchFamily="18" charset="0"/>
                <a:cs typeface="Times New Roman" panose="02020603050405020304" pitchFamily="18" charset="0"/>
              </a:rPr>
              <a:t>Aatmnirbhar</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Bhart</a:t>
            </a:r>
            <a:r>
              <a:rPr lang="en-IN" dirty="0">
                <a:latin typeface="Times New Roman" panose="02020603050405020304" pitchFamily="18" charset="0"/>
                <a:cs typeface="Times New Roman" panose="02020603050405020304" pitchFamily="18" charset="0"/>
              </a:rPr>
              <a:t> Store means:</a:t>
            </a:r>
          </a:p>
        </p:txBody>
      </p:sp>
      <p:sp>
        <p:nvSpPr>
          <p:cNvPr id="3" name="Content Placeholder 2">
            <a:extLst>
              <a:ext uri="{FF2B5EF4-FFF2-40B4-BE49-F238E27FC236}">
                <a16:creationId xmlns:a16="http://schemas.microsoft.com/office/drawing/2014/main" id="{48F2AD95-046F-49AD-B254-D4C33D80FE30}"/>
              </a:ext>
            </a:extLst>
          </p:cNvPr>
          <p:cNvSpPr>
            <a:spLocks noGrp="1"/>
          </p:cNvSpPr>
          <p:nvPr>
            <p:ph idx="1"/>
          </p:nvPr>
        </p:nvSpPr>
        <p:spPr/>
        <p:txBody>
          <a:bodyPr>
            <a:normAutofit/>
          </a:bodyPr>
          <a:lstStyle/>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ABS is a concept to help , support and promote </a:t>
            </a:r>
            <a:r>
              <a:rPr lang="en-IN" dirty="0">
                <a:solidFill>
                  <a:srgbClr val="FFFF00"/>
                </a:solidFill>
                <a:latin typeface="Times New Roman" panose="02020603050405020304" pitchFamily="18" charset="0"/>
                <a:cs typeface="Times New Roman" panose="02020603050405020304" pitchFamily="18" charset="0"/>
              </a:rPr>
              <a:t>Goods that are made in INDIA and made for INDIA </a:t>
            </a:r>
            <a:r>
              <a:rPr lang="en-IN" dirty="0">
                <a:latin typeface="Times New Roman" panose="02020603050405020304" pitchFamily="18" charset="0"/>
                <a:cs typeface="Times New Roman" panose="02020603050405020304" pitchFamily="18" charset="0"/>
              </a:rPr>
              <a:t>. By doing this many venders , shopkeepers , household and small scale companies which are situated in INDIA get more Profit margin and also employment at the same time . </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ABS supports - </a:t>
            </a:r>
            <a:r>
              <a:rPr lang="en-US" i="0" dirty="0" err="1">
                <a:solidFill>
                  <a:srgbClr val="FFFF00"/>
                </a:solidFill>
                <a:effectLst/>
                <a:latin typeface="Times New Roman" panose="02020603050405020304" pitchFamily="18" charset="0"/>
                <a:cs typeface="Times New Roman" panose="02020603050405020304" pitchFamily="18" charset="0"/>
              </a:rPr>
              <a:t>Aatma</a:t>
            </a:r>
            <a:r>
              <a:rPr lang="en-US" i="0" dirty="0">
                <a:solidFill>
                  <a:srgbClr val="FFFF00"/>
                </a:solidFill>
                <a:effectLst/>
                <a:latin typeface="Times New Roman" panose="02020603050405020304" pitchFamily="18" charset="0"/>
                <a:cs typeface="Times New Roman" panose="02020603050405020304" pitchFamily="18" charset="0"/>
              </a:rPr>
              <a:t> </a:t>
            </a:r>
            <a:r>
              <a:rPr lang="en-US" i="0" dirty="0" err="1">
                <a:solidFill>
                  <a:srgbClr val="FFFF00"/>
                </a:solidFill>
                <a:effectLst/>
                <a:latin typeface="Times New Roman" panose="02020603050405020304" pitchFamily="18" charset="0"/>
                <a:cs typeface="Times New Roman" panose="02020603050405020304" pitchFamily="18" charset="0"/>
              </a:rPr>
              <a:t>Nirbhar</a:t>
            </a:r>
            <a:r>
              <a:rPr lang="en-US" i="0" dirty="0">
                <a:solidFill>
                  <a:srgbClr val="FFFF00"/>
                </a:solidFill>
                <a:effectLst/>
                <a:latin typeface="Times New Roman" panose="02020603050405020304" pitchFamily="18" charset="0"/>
                <a:cs typeface="Times New Roman" panose="02020603050405020304" pitchFamily="18" charset="0"/>
              </a:rPr>
              <a:t> Bharat Abhiyan</a:t>
            </a:r>
            <a:r>
              <a:rPr lang="en-US" i="0" dirty="0">
                <a:effectLst/>
                <a:latin typeface="Times New Roman" panose="02020603050405020304" pitchFamily="18" charset="0"/>
                <a:cs typeface="Times New Roman" panose="02020603050405020304" pitchFamily="18" charset="0"/>
              </a:rPr>
              <a:t>' package will help India in reviving the economy focus on land, </a:t>
            </a:r>
            <a:r>
              <a:rPr lang="en-US" i="0" dirty="0" err="1">
                <a:effectLst/>
                <a:latin typeface="Times New Roman" panose="02020603050405020304" pitchFamily="18" charset="0"/>
                <a:cs typeface="Times New Roman" panose="02020603050405020304" pitchFamily="18" charset="0"/>
              </a:rPr>
              <a:t>labour</a:t>
            </a:r>
            <a:r>
              <a:rPr lang="en-US" i="0" dirty="0">
                <a:effectLst/>
                <a:latin typeface="Times New Roman" panose="02020603050405020304" pitchFamily="18" charset="0"/>
                <a:cs typeface="Times New Roman" panose="02020603050405020304" pitchFamily="18" charset="0"/>
              </a:rPr>
              <a:t>, liquidity and laws and will benefit farmers, workers, taxpayers, MSMEs and cottage industry.</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3E0996D-EC3D-4DD1-9950-7BE48379C4BD}"/>
              </a:ext>
            </a:extLst>
          </p:cNvPr>
          <p:cNvPicPr>
            <a:picLocks noChangeAspect="1"/>
          </p:cNvPicPr>
          <p:nvPr/>
        </p:nvPicPr>
        <p:blipFill rotWithShape="1">
          <a:blip r:embed="rId2"/>
          <a:srcRect l="3824"/>
          <a:stretch/>
        </p:blipFill>
        <p:spPr>
          <a:xfrm>
            <a:off x="4600111" y="5137533"/>
            <a:ext cx="2991776" cy="1442529"/>
          </a:xfrm>
          <a:prstGeom prst="rect">
            <a:avLst/>
          </a:prstGeom>
        </p:spPr>
      </p:pic>
    </p:spTree>
    <p:extLst>
      <p:ext uri="{BB962C8B-B14F-4D97-AF65-F5344CB8AC3E}">
        <p14:creationId xmlns:p14="http://schemas.microsoft.com/office/powerpoint/2010/main" val="372274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016B-F3DA-4C57-867F-BE59566AA6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TEAM MEMBERS FOR THE PROJECT: </a:t>
            </a:r>
          </a:p>
        </p:txBody>
      </p:sp>
      <p:sp>
        <p:nvSpPr>
          <p:cNvPr id="3" name="Content Placeholder 2">
            <a:extLst>
              <a:ext uri="{FF2B5EF4-FFF2-40B4-BE49-F238E27FC236}">
                <a16:creationId xmlns:a16="http://schemas.microsoft.com/office/drawing/2014/main" id="{48F2AD95-046F-49AD-B254-D4C33D80FE30}"/>
              </a:ext>
            </a:extLst>
          </p:cNvPr>
          <p:cNvSpPr>
            <a:spLocks noGrp="1"/>
          </p:cNvSpPr>
          <p:nvPr>
            <p:ph idx="1"/>
          </p:nvPr>
        </p:nvSpPr>
        <p:spPr>
          <a:xfrm>
            <a:off x="810000" y="2879235"/>
            <a:ext cx="10554574" cy="3636511"/>
          </a:xfrm>
        </p:spPr>
        <p:txBody>
          <a:bodyPr>
            <a:normAutofit/>
          </a:bodyPr>
          <a:lstStyle/>
          <a:p>
            <a:pPr>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SUNAINA BHARATI - 4067 </a:t>
            </a:r>
          </a:p>
          <a:p>
            <a:pPr>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AARYA VIRA – 4033</a:t>
            </a:r>
          </a:p>
          <a:p>
            <a:pPr>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BHAVESH BALDANIYA – 4083</a:t>
            </a:r>
          </a:p>
          <a:p>
            <a:pPr>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VIKAS MOURYA – 4057</a:t>
            </a:r>
          </a:p>
          <a:p>
            <a:pPr>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KANHAIYA DUBEY - 4039</a:t>
            </a:r>
          </a:p>
        </p:txBody>
      </p:sp>
      <p:sp>
        <p:nvSpPr>
          <p:cNvPr id="6" name="TextBox 5">
            <a:extLst>
              <a:ext uri="{FF2B5EF4-FFF2-40B4-BE49-F238E27FC236}">
                <a16:creationId xmlns:a16="http://schemas.microsoft.com/office/drawing/2014/main" id="{63BAD286-F219-43AC-937B-61D4F879451A}"/>
              </a:ext>
            </a:extLst>
          </p:cNvPr>
          <p:cNvSpPr txBox="1"/>
          <p:nvPr/>
        </p:nvSpPr>
        <p:spPr>
          <a:xfrm>
            <a:off x="478403" y="2782462"/>
            <a:ext cx="7341833" cy="646331"/>
          </a:xfrm>
          <a:prstGeom prst="rect">
            <a:avLst/>
          </a:prstGeom>
          <a:noFill/>
        </p:spPr>
        <p:txBody>
          <a:bodyPr wrap="square" rtlCol="0">
            <a:spAutoFit/>
          </a:bodyPr>
          <a:lstStyle/>
          <a:p>
            <a:r>
              <a:rPr lang="en-IN" b="1" dirty="0">
                <a:solidFill>
                  <a:srgbClr val="FFFF00"/>
                </a:solidFill>
                <a:latin typeface="Times New Roman" panose="02020603050405020304" pitchFamily="18" charset="0"/>
                <a:cs typeface="Times New Roman" panose="02020603050405020304" pitchFamily="18" charset="0"/>
              </a:rPr>
              <a:t>This project idea was only possible because of our team members and their efforts, following are the names of our team members:</a:t>
            </a:r>
          </a:p>
        </p:txBody>
      </p:sp>
      <p:pic>
        <p:nvPicPr>
          <p:cNvPr id="8" name="Picture 7">
            <a:extLst>
              <a:ext uri="{FF2B5EF4-FFF2-40B4-BE49-F238E27FC236}">
                <a16:creationId xmlns:a16="http://schemas.microsoft.com/office/drawing/2014/main" id="{A0A109BC-DB16-47AF-8641-224D13C21C90}"/>
              </a:ext>
            </a:extLst>
          </p:cNvPr>
          <p:cNvPicPr>
            <a:picLocks noChangeAspect="1"/>
          </p:cNvPicPr>
          <p:nvPr/>
        </p:nvPicPr>
        <p:blipFill>
          <a:blip r:embed="rId2"/>
          <a:stretch>
            <a:fillRect/>
          </a:stretch>
        </p:blipFill>
        <p:spPr>
          <a:xfrm>
            <a:off x="4629361" y="5523067"/>
            <a:ext cx="3190875" cy="1438275"/>
          </a:xfrm>
          <a:prstGeom prst="rect">
            <a:avLst/>
          </a:prstGeom>
        </p:spPr>
      </p:pic>
      <p:pic>
        <p:nvPicPr>
          <p:cNvPr id="4" name="Picture 3">
            <a:extLst>
              <a:ext uri="{FF2B5EF4-FFF2-40B4-BE49-F238E27FC236}">
                <a16:creationId xmlns:a16="http://schemas.microsoft.com/office/drawing/2014/main" id="{F9C12C93-2FAE-49C3-99E6-5F46BD327980}"/>
              </a:ext>
            </a:extLst>
          </p:cNvPr>
          <p:cNvPicPr>
            <a:picLocks noChangeAspect="1"/>
          </p:cNvPicPr>
          <p:nvPr/>
        </p:nvPicPr>
        <p:blipFill>
          <a:blip r:embed="rId2"/>
          <a:stretch>
            <a:fillRect/>
          </a:stretch>
        </p:blipFill>
        <p:spPr>
          <a:xfrm>
            <a:off x="6859136" y="5523066"/>
            <a:ext cx="3190875" cy="1438275"/>
          </a:xfrm>
          <a:prstGeom prst="rect">
            <a:avLst/>
          </a:prstGeom>
        </p:spPr>
      </p:pic>
      <p:pic>
        <p:nvPicPr>
          <p:cNvPr id="5" name="Picture 4">
            <a:extLst>
              <a:ext uri="{FF2B5EF4-FFF2-40B4-BE49-F238E27FC236}">
                <a16:creationId xmlns:a16="http://schemas.microsoft.com/office/drawing/2014/main" id="{CA7A065C-D89C-48CF-9F33-9D98A2CAFB17}"/>
              </a:ext>
            </a:extLst>
          </p:cNvPr>
          <p:cNvPicPr>
            <a:picLocks noChangeAspect="1"/>
          </p:cNvPicPr>
          <p:nvPr/>
        </p:nvPicPr>
        <p:blipFill>
          <a:blip r:embed="rId2"/>
          <a:stretch>
            <a:fillRect/>
          </a:stretch>
        </p:blipFill>
        <p:spPr>
          <a:xfrm>
            <a:off x="9111855" y="5515388"/>
            <a:ext cx="3190875" cy="1438275"/>
          </a:xfrm>
          <a:prstGeom prst="rect">
            <a:avLst/>
          </a:prstGeom>
        </p:spPr>
      </p:pic>
      <p:pic>
        <p:nvPicPr>
          <p:cNvPr id="11" name="Picture 10">
            <a:extLst>
              <a:ext uri="{FF2B5EF4-FFF2-40B4-BE49-F238E27FC236}">
                <a16:creationId xmlns:a16="http://schemas.microsoft.com/office/drawing/2014/main" id="{DE66ED7B-48DD-40EA-B465-42B81A50B096}"/>
              </a:ext>
            </a:extLst>
          </p:cNvPr>
          <p:cNvPicPr>
            <a:picLocks noChangeAspect="1"/>
          </p:cNvPicPr>
          <p:nvPr/>
        </p:nvPicPr>
        <p:blipFill>
          <a:blip r:embed="rId2"/>
          <a:stretch>
            <a:fillRect/>
          </a:stretch>
        </p:blipFill>
        <p:spPr>
          <a:xfrm>
            <a:off x="2464689" y="5523066"/>
            <a:ext cx="3190875" cy="1438275"/>
          </a:xfrm>
          <a:prstGeom prst="rect">
            <a:avLst/>
          </a:prstGeom>
        </p:spPr>
      </p:pic>
      <p:pic>
        <p:nvPicPr>
          <p:cNvPr id="13" name="Picture 12">
            <a:extLst>
              <a:ext uri="{FF2B5EF4-FFF2-40B4-BE49-F238E27FC236}">
                <a16:creationId xmlns:a16="http://schemas.microsoft.com/office/drawing/2014/main" id="{239D2907-8253-45D2-B2AA-1B8E68619F11}"/>
              </a:ext>
            </a:extLst>
          </p:cNvPr>
          <p:cNvPicPr>
            <a:picLocks noChangeAspect="1"/>
          </p:cNvPicPr>
          <p:nvPr/>
        </p:nvPicPr>
        <p:blipFill>
          <a:blip r:embed="rId2"/>
          <a:stretch>
            <a:fillRect/>
          </a:stretch>
        </p:blipFill>
        <p:spPr>
          <a:xfrm>
            <a:off x="249954" y="5523066"/>
            <a:ext cx="3190875" cy="1438275"/>
          </a:xfrm>
          <a:prstGeom prst="rect">
            <a:avLst/>
          </a:prstGeom>
        </p:spPr>
      </p:pic>
    </p:spTree>
    <p:extLst>
      <p:ext uri="{BB962C8B-B14F-4D97-AF65-F5344CB8AC3E}">
        <p14:creationId xmlns:p14="http://schemas.microsoft.com/office/powerpoint/2010/main" val="3634731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016B-F3DA-4C57-867F-BE59566AA6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HOME PAGE: </a:t>
            </a:r>
          </a:p>
        </p:txBody>
      </p:sp>
      <p:sp>
        <p:nvSpPr>
          <p:cNvPr id="6" name="TextBox 5">
            <a:extLst>
              <a:ext uri="{FF2B5EF4-FFF2-40B4-BE49-F238E27FC236}">
                <a16:creationId xmlns:a16="http://schemas.microsoft.com/office/drawing/2014/main" id="{63BAD286-F219-43AC-937B-61D4F879451A}"/>
              </a:ext>
            </a:extLst>
          </p:cNvPr>
          <p:cNvSpPr txBox="1"/>
          <p:nvPr/>
        </p:nvSpPr>
        <p:spPr>
          <a:xfrm>
            <a:off x="478403" y="2782462"/>
            <a:ext cx="7999772" cy="2585323"/>
          </a:xfrm>
          <a:prstGeom prst="rect">
            <a:avLst/>
          </a:prstGeom>
          <a:noFill/>
        </p:spPr>
        <p:txBody>
          <a:bodyPr wrap="square" rtlCol="0">
            <a:spAutoFit/>
          </a:bodyPr>
          <a:lstStyle/>
          <a:p>
            <a:r>
              <a:rPr lang="en-IN" b="1" dirty="0">
                <a:solidFill>
                  <a:srgbClr val="FFFF00"/>
                </a:solidFill>
                <a:latin typeface="Times New Roman" panose="02020603050405020304" pitchFamily="18" charset="0"/>
                <a:cs typeface="Times New Roman" panose="02020603050405020304" pitchFamily="18" charset="0"/>
              </a:rPr>
              <a:t>Home Page is the first impression of our project to the users . We have many options available for the end users to navigate easily to our ABS Website . Here are some of the options listed below:</a:t>
            </a:r>
          </a:p>
          <a:p>
            <a:endParaRPr lang="en-IN" b="1" dirty="0">
              <a:solidFill>
                <a:srgbClr val="FFFF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Search Box – to search for any required product on Website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 Account – to visit to user account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Three Lines – to navigate to other pages of Website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Buy Now – to Buy any required Product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My Cart – to Add the user product to Cart Menu of the user on Website </a:t>
            </a:r>
          </a:p>
        </p:txBody>
      </p:sp>
      <p:pic>
        <p:nvPicPr>
          <p:cNvPr id="9" name="Picture 8">
            <a:extLst>
              <a:ext uri="{FF2B5EF4-FFF2-40B4-BE49-F238E27FC236}">
                <a16:creationId xmlns:a16="http://schemas.microsoft.com/office/drawing/2014/main" id="{0214441A-B898-40F7-9406-236A7EFE42F2}"/>
              </a:ext>
            </a:extLst>
          </p:cNvPr>
          <p:cNvPicPr>
            <a:picLocks noChangeAspect="1"/>
          </p:cNvPicPr>
          <p:nvPr/>
        </p:nvPicPr>
        <p:blipFill>
          <a:blip r:embed="rId2"/>
          <a:stretch>
            <a:fillRect/>
          </a:stretch>
        </p:blipFill>
        <p:spPr>
          <a:xfrm>
            <a:off x="9835923" y="97763"/>
            <a:ext cx="2401291" cy="1669299"/>
          </a:xfrm>
          <a:prstGeom prst="rect">
            <a:avLst/>
          </a:prstGeom>
        </p:spPr>
      </p:pic>
    </p:spTree>
    <p:extLst>
      <p:ext uri="{BB962C8B-B14F-4D97-AF65-F5344CB8AC3E}">
        <p14:creationId xmlns:p14="http://schemas.microsoft.com/office/powerpoint/2010/main" val="3844650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1771E1-889B-4077-84E4-245DC109F325}"/>
              </a:ext>
            </a:extLst>
          </p:cNvPr>
          <p:cNvPicPr>
            <a:picLocks noChangeAspect="1"/>
          </p:cNvPicPr>
          <p:nvPr/>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3721196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016B-F3DA-4C57-867F-BE59566AA6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REGISTER PAGE: </a:t>
            </a:r>
          </a:p>
        </p:txBody>
      </p:sp>
      <p:sp>
        <p:nvSpPr>
          <p:cNvPr id="6" name="TextBox 5">
            <a:extLst>
              <a:ext uri="{FF2B5EF4-FFF2-40B4-BE49-F238E27FC236}">
                <a16:creationId xmlns:a16="http://schemas.microsoft.com/office/drawing/2014/main" id="{63BAD286-F219-43AC-937B-61D4F879451A}"/>
              </a:ext>
            </a:extLst>
          </p:cNvPr>
          <p:cNvSpPr txBox="1"/>
          <p:nvPr/>
        </p:nvSpPr>
        <p:spPr>
          <a:xfrm>
            <a:off x="478403" y="2782462"/>
            <a:ext cx="7999772" cy="2862322"/>
          </a:xfrm>
          <a:prstGeom prst="rect">
            <a:avLst/>
          </a:prstGeom>
          <a:noFill/>
        </p:spPr>
        <p:txBody>
          <a:bodyPr wrap="square" rtlCol="0">
            <a:spAutoFit/>
          </a:bodyPr>
          <a:lstStyle/>
          <a:p>
            <a:r>
              <a:rPr lang="en-IN" b="1" dirty="0">
                <a:solidFill>
                  <a:srgbClr val="FFFF00"/>
                </a:solidFill>
                <a:latin typeface="Times New Roman" panose="02020603050405020304" pitchFamily="18" charset="0"/>
                <a:cs typeface="Times New Roman" panose="02020603050405020304" pitchFamily="18" charset="0"/>
              </a:rPr>
              <a:t>Register Page is the second page after Home Page . This page is for users to First Register and creating an account on ABS, Here are some fields that are necessary to fill by the user to create an account are as follow:</a:t>
            </a:r>
          </a:p>
          <a:p>
            <a:endParaRPr lang="en-IN" b="1" dirty="0">
              <a:solidFill>
                <a:srgbClr val="FFFF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Full Name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Email Address</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Phone Number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Creating a Password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Conforming user Password</a:t>
            </a:r>
          </a:p>
          <a:p>
            <a:endParaRPr lang="en-IN" b="1" dirty="0">
              <a:solidFill>
                <a:srgbClr val="FFFF00"/>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55AB635-F047-49A6-AE79-D94CC035984B}"/>
              </a:ext>
            </a:extLst>
          </p:cNvPr>
          <p:cNvPicPr>
            <a:picLocks noChangeAspect="1"/>
          </p:cNvPicPr>
          <p:nvPr/>
        </p:nvPicPr>
        <p:blipFill>
          <a:blip r:embed="rId2"/>
          <a:stretch>
            <a:fillRect/>
          </a:stretch>
        </p:blipFill>
        <p:spPr>
          <a:xfrm>
            <a:off x="9828229" y="135949"/>
            <a:ext cx="2497976" cy="1669002"/>
          </a:xfrm>
          <a:prstGeom prst="rect">
            <a:avLst/>
          </a:prstGeom>
        </p:spPr>
      </p:pic>
    </p:spTree>
    <p:extLst>
      <p:ext uri="{BB962C8B-B14F-4D97-AF65-F5344CB8AC3E}">
        <p14:creationId xmlns:p14="http://schemas.microsoft.com/office/powerpoint/2010/main" val="3756841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D1ECD6-7DE8-4597-B7AF-30ECA8C0480A}"/>
              </a:ext>
            </a:extLst>
          </p:cNvPr>
          <p:cNvPicPr>
            <a:picLocks noChangeAspect="1"/>
          </p:cNvPicPr>
          <p:nvPr/>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1219685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016B-F3DA-4C57-867F-BE59566AA6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LOGIN PAGE: </a:t>
            </a:r>
          </a:p>
        </p:txBody>
      </p:sp>
      <p:sp>
        <p:nvSpPr>
          <p:cNvPr id="6" name="TextBox 5">
            <a:extLst>
              <a:ext uri="{FF2B5EF4-FFF2-40B4-BE49-F238E27FC236}">
                <a16:creationId xmlns:a16="http://schemas.microsoft.com/office/drawing/2014/main" id="{63BAD286-F219-43AC-937B-61D4F879451A}"/>
              </a:ext>
            </a:extLst>
          </p:cNvPr>
          <p:cNvSpPr txBox="1"/>
          <p:nvPr/>
        </p:nvSpPr>
        <p:spPr>
          <a:xfrm>
            <a:off x="478403" y="2782462"/>
            <a:ext cx="7999772" cy="2031325"/>
          </a:xfrm>
          <a:prstGeom prst="rect">
            <a:avLst/>
          </a:prstGeom>
          <a:noFill/>
        </p:spPr>
        <p:txBody>
          <a:bodyPr wrap="square" rtlCol="0">
            <a:spAutoFit/>
          </a:bodyPr>
          <a:lstStyle/>
          <a:p>
            <a:r>
              <a:rPr lang="en-IN" b="1" dirty="0">
                <a:solidFill>
                  <a:srgbClr val="FFFF00"/>
                </a:solidFill>
                <a:latin typeface="Times New Roman" panose="02020603050405020304" pitchFamily="18" charset="0"/>
                <a:cs typeface="Times New Roman" panose="02020603050405020304" pitchFamily="18" charset="0"/>
              </a:rPr>
              <a:t>Login Page is for user to login to ABS store and to visit it , Once user have created an account on ABS they can come on Login Page to Navigate to our Website , Here are some fields that are necessary to fill by the user wile Login in to the account are as follow:</a:t>
            </a:r>
          </a:p>
          <a:p>
            <a:endParaRPr lang="en-IN" b="1" dirty="0">
              <a:solidFill>
                <a:srgbClr val="FFFF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Enter Email Address or Phone Number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Password for the Account </a:t>
            </a:r>
          </a:p>
        </p:txBody>
      </p:sp>
      <p:pic>
        <p:nvPicPr>
          <p:cNvPr id="4" name="Picture 3">
            <a:extLst>
              <a:ext uri="{FF2B5EF4-FFF2-40B4-BE49-F238E27FC236}">
                <a16:creationId xmlns:a16="http://schemas.microsoft.com/office/drawing/2014/main" id="{EEEE5C10-0740-4782-9397-DED11621E8A7}"/>
              </a:ext>
            </a:extLst>
          </p:cNvPr>
          <p:cNvPicPr>
            <a:picLocks noChangeAspect="1"/>
          </p:cNvPicPr>
          <p:nvPr/>
        </p:nvPicPr>
        <p:blipFill>
          <a:blip r:embed="rId2"/>
          <a:stretch>
            <a:fillRect/>
          </a:stretch>
        </p:blipFill>
        <p:spPr>
          <a:xfrm>
            <a:off x="10023534" y="0"/>
            <a:ext cx="1979077" cy="1979077"/>
          </a:xfrm>
          <a:prstGeom prst="rect">
            <a:avLst/>
          </a:prstGeom>
        </p:spPr>
      </p:pic>
    </p:spTree>
    <p:extLst>
      <p:ext uri="{BB962C8B-B14F-4D97-AF65-F5344CB8AC3E}">
        <p14:creationId xmlns:p14="http://schemas.microsoft.com/office/powerpoint/2010/main" val="2903523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DDA68A-94B6-49EB-9430-3A093C33FCC9}"/>
              </a:ext>
            </a:extLst>
          </p:cNvPr>
          <p:cNvPicPr>
            <a:picLocks noChangeAspect="1"/>
          </p:cNvPicPr>
          <p:nvPr/>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5192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016B-F3DA-4C57-867F-BE59566AA6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PRODUCT PAGE: </a:t>
            </a:r>
          </a:p>
        </p:txBody>
      </p:sp>
      <p:sp>
        <p:nvSpPr>
          <p:cNvPr id="6" name="TextBox 5">
            <a:extLst>
              <a:ext uri="{FF2B5EF4-FFF2-40B4-BE49-F238E27FC236}">
                <a16:creationId xmlns:a16="http://schemas.microsoft.com/office/drawing/2014/main" id="{63BAD286-F219-43AC-937B-61D4F879451A}"/>
              </a:ext>
            </a:extLst>
          </p:cNvPr>
          <p:cNvSpPr txBox="1"/>
          <p:nvPr/>
        </p:nvSpPr>
        <p:spPr>
          <a:xfrm>
            <a:off x="478403" y="2782462"/>
            <a:ext cx="7999772" cy="3416320"/>
          </a:xfrm>
          <a:prstGeom prst="rect">
            <a:avLst/>
          </a:prstGeom>
          <a:noFill/>
        </p:spPr>
        <p:txBody>
          <a:bodyPr wrap="square" rtlCol="0">
            <a:spAutoFit/>
          </a:bodyPr>
          <a:lstStyle/>
          <a:p>
            <a:r>
              <a:rPr lang="en-IN" b="1" dirty="0">
                <a:solidFill>
                  <a:srgbClr val="FFFF00"/>
                </a:solidFill>
                <a:latin typeface="Times New Roman" panose="02020603050405020304" pitchFamily="18" charset="0"/>
                <a:cs typeface="Times New Roman" panose="02020603050405020304" pitchFamily="18" charset="0"/>
              </a:rPr>
              <a:t>Product Page is the most important page of our project. Here we are demonstrating our Products that are made in INDIA. Here we again have various options for user convince to navigate to our store and they are as follow:</a:t>
            </a:r>
          </a:p>
          <a:p>
            <a:endParaRPr lang="en-IN" b="1" dirty="0">
              <a:solidFill>
                <a:srgbClr val="FFFF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Three Lines – to directly go from Product Page to some other page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Account Option – to visit user account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Categories Option – to search for Product which user want to buy  such as Mobile , Clothes etc…</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Buy Now Option – to buy any required Product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Add To Cart Option – to directly add any product to Cart Menu</a:t>
            </a:r>
          </a:p>
          <a:p>
            <a:endParaRPr lang="en-IN" b="1" dirty="0">
              <a:solidFill>
                <a:srgbClr val="FFFF00"/>
              </a:solidFill>
              <a:latin typeface="Times New Roman" panose="02020603050405020304" pitchFamily="18" charset="0"/>
              <a:cs typeface="Times New Roman" panose="02020603050405020304" pitchFamily="18" charset="0"/>
            </a:endParaRPr>
          </a:p>
          <a:p>
            <a:endParaRPr lang="en-IN" b="1" dirty="0">
              <a:solidFill>
                <a:srgbClr val="FFFF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3B50A17-2C72-4894-AE65-3A2529D4C79C}"/>
              </a:ext>
            </a:extLst>
          </p:cNvPr>
          <p:cNvPicPr>
            <a:picLocks noChangeAspect="1"/>
          </p:cNvPicPr>
          <p:nvPr/>
        </p:nvPicPr>
        <p:blipFill>
          <a:blip r:embed="rId2"/>
          <a:stretch>
            <a:fillRect/>
          </a:stretch>
        </p:blipFill>
        <p:spPr>
          <a:xfrm>
            <a:off x="9174470" y="32300"/>
            <a:ext cx="2543175" cy="1800225"/>
          </a:xfrm>
          <a:prstGeom prst="rect">
            <a:avLst/>
          </a:prstGeom>
        </p:spPr>
      </p:pic>
    </p:spTree>
    <p:extLst>
      <p:ext uri="{BB962C8B-B14F-4D97-AF65-F5344CB8AC3E}">
        <p14:creationId xmlns:p14="http://schemas.microsoft.com/office/powerpoint/2010/main" val="3488933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7C7763-9025-4526-A745-63ECB9BC5950}"/>
              </a:ext>
            </a:extLst>
          </p:cNvPr>
          <p:cNvPicPr>
            <a:picLocks noChangeAspect="1"/>
          </p:cNvPicPr>
          <p:nvPr/>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57641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016B-F3DA-4C57-867F-BE59566AA6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MY CART PAGE: </a:t>
            </a:r>
          </a:p>
        </p:txBody>
      </p:sp>
      <p:sp>
        <p:nvSpPr>
          <p:cNvPr id="6" name="TextBox 5">
            <a:extLst>
              <a:ext uri="{FF2B5EF4-FFF2-40B4-BE49-F238E27FC236}">
                <a16:creationId xmlns:a16="http://schemas.microsoft.com/office/drawing/2014/main" id="{63BAD286-F219-43AC-937B-61D4F879451A}"/>
              </a:ext>
            </a:extLst>
          </p:cNvPr>
          <p:cNvSpPr txBox="1"/>
          <p:nvPr/>
        </p:nvSpPr>
        <p:spPr>
          <a:xfrm>
            <a:off x="478403" y="2782462"/>
            <a:ext cx="7999772" cy="3416320"/>
          </a:xfrm>
          <a:prstGeom prst="rect">
            <a:avLst/>
          </a:prstGeom>
          <a:noFill/>
        </p:spPr>
        <p:txBody>
          <a:bodyPr wrap="square" rtlCol="0">
            <a:spAutoFit/>
          </a:bodyPr>
          <a:lstStyle/>
          <a:p>
            <a:r>
              <a:rPr lang="en-IN" b="1" dirty="0">
                <a:solidFill>
                  <a:srgbClr val="FFFF00"/>
                </a:solidFill>
                <a:latin typeface="Times New Roman" panose="02020603050405020304" pitchFamily="18" charset="0"/>
                <a:cs typeface="Times New Roman" panose="02020603050405020304" pitchFamily="18" charset="0"/>
              </a:rPr>
              <a:t>My Cart Page represents the product or services that the End User have saved for Purchasing , Here are some options that will guide the user to navigate to the page and they are as follow :</a:t>
            </a:r>
          </a:p>
          <a:p>
            <a:endParaRPr lang="en-IN" b="1" dirty="0">
              <a:solidFill>
                <a:srgbClr val="FFFF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Three Lines – to navigate to some other page of the Website</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Start Shopping Option – to start purchasing the product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Buy Now Option – to Buy that particular product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Add To Cart Option – to add any product to Cart Menu </a:t>
            </a:r>
          </a:p>
          <a:p>
            <a:pPr marL="285750" indent="-285750">
              <a:buFont typeface="Wingdings" panose="05000000000000000000" pitchFamily="2" charset="2"/>
              <a:buChar char="v"/>
            </a:pPr>
            <a:endParaRPr lang="en-IN" b="1" dirty="0">
              <a:solidFill>
                <a:srgbClr val="FFFF00"/>
              </a:solidFill>
              <a:latin typeface="Times New Roman" panose="02020603050405020304" pitchFamily="18" charset="0"/>
              <a:cs typeface="Times New Roman" panose="02020603050405020304" pitchFamily="18" charset="0"/>
            </a:endParaRPr>
          </a:p>
          <a:p>
            <a:endParaRPr lang="en-IN" b="1" dirty="0">
              <a:solidFill>
                <a:srgbClr val="FFFF00"/>
              </a:solidFill>
              <a:latin typeface="Times New Roman" panose="02020603050405020304" pitchFamily="18" charset="0"/>
              <a:cs typeface="Times New Roman" panose="02020603050405020304" pitchFamily="18" charset="0"/>
            </a:endParaRPr>
          </a:p>
          <a:p>
            <a:endParaRPr lang="en-IN" b="1" dirty="0">
              <a:solidFill>
                <a:srgbClr val="FFFF00"/>
              </a:solidFill>
              <a:latin typeface="Times New Roman" panose="02020603050405020304" pitchFamily="18" charset="0"/>
              <a:cs typeface="Times New Roman" panose="02020603050405020304" pitchFamily="18" charset="0"/>
            </a:endParaRPr>
          </a:p>
          <a:p>
            <a:endParaRPr lang="en-IN" b="1" dirty="0">
              <a:solidFill>
                <a:srgbClr val="FFFF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A9DB8AE-6EFC-43BE-A7ED-286C1BF64B5A}"/>
              </a:ext>
            </a:extLst>
          </p:cNvPr>
          <p:cNvPicPr>
            <a:picLocks noChangeAspect="1"/>
          </p:cNvPicPr>
          <p:nvPr/>
        </p:nvPicPr>
        <p:blipFill>
          <a:blip r:embed="rId2"/>
          <a:stretch>
            <a:fillRect/>
          </a:stretch>
        </p:blipFill>
        <p:spPr>
          <a:xfrm>
            <a:off x="9874049" y="135616"/>
            <a:ext cx="2140271" cy="1790839"/>
          </a:xfrm>
          <a:prstGeom prst="rect">
            <a:avLst/>
          </a:prstGeom>
        </p:spPr>
      </p:pic>
    </p:spTree>
    <p:extLst>
      <p:ext uri="{BB962C8B-B14F-4D97-AF65-F5344CB8AC3E}">
        <p14:creationId xmlns:p14="http://schemas.microsoft.com/office/powerpoint/2010/main" val="1595695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C9E882-559F-43A8-95EC-D8AE1A5C99F3}"/>
              </a:ext>
            </a:extLst>
          </p:cNvPr>
          <p:cNvPicPr>
            <a:picLocks noChangeAspect="1"/>
          </p:cNvPicPr>
          <p:nvPr/>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1171280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016B-F3DA-4C57-867F-BE59566AA6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PAYMENT PAGE: </a:t>
            </a:r>
          </a:p>
        </p:txBody>
      </p:sp>
      <p:sp>
        <p:nvSpPr>
          <p:cNvPr id="6" name="TextBox 5">
            <a:extLst>
              <a:ext uri="{FF2B5EF4-FFF2-40B4-BE49-F238E27FC236}">
                <a16:creationId xmlns:a16="http://schemas.microsoft.com/office/drawing/2014/main" id="{63BAD286-F219-43AC-937B-61D4F879451A}"/>
              </a:ext>
            </a:extLst>
          </p:cNvPr>
          <p:cNvSpPr txBox="1"/>
          <p:nvPr/>
        </p:nvSpPr>
        <p:spPr>
          <a:xfrm>
            <a:off x="478403" y="2782462"/>
            <a:ext cx="7999772" cy="2862322"/>
          </a:xfrm>
          <a:prstGeom prst="rect">
            <a:avLst/>
          </a:prstGeom>
          <a:noFill/>
        </p:spPr>
        <p:txBody>
          <a:bodyPr wrap="square" rtlCol="0">
            <a:spAutoFit/>
          </a:bodyPr>
          <a:lstStyle/>
          <a:p>
            <a:r>
              <a:rPr lang="en-IN" b="1" dirty="0">
                <a:solidFill>
                  <a:srgbClr val="FFFF00"/>
                </a:solidFill>
                <a:latin typeface="Times New Roman" panose="02020603050405020304" pitchFamily="18" charset="0"/>
                <a:cs typeface="Times New Roman" panose="02020603050405020304" pitchFamily="18" charset="0"/>
              </a:rPr>
              <a:t>Payment Page is the page for adding payment option as well as to add Final Delivery location of your Place , Here are some fields that are necessary to fill by the user wile doing Payment for the Product and they are as follow:</a:t>
            </a:r>
          </a:p>
          <a:p>
            <a:endParaRPr lang="en-IN" b="1" dirty="0">
              <a:solidFill>
                <a:srgbClr val="FFFF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Payment Option:</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Here user need to select any one Radio Button out of 3 Payment Option (i.e. COD , GOOGLE PAY OR PAYTM)</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Delivery Option:</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Here user need to fill the Proper Address , Pin-code , Nearest Landmark etc..</a:t>
            </a:r>
          </a:p>
          <a:p>
            <a:endParaRPr lang="en-IN" b="1" dirty="0">
              <a:solidFill>
                <a:srgbClr val="FFFF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D384B49-5249-4916-9BDC-8286098DD054}"/>
              </a:ext>
            </a:extLst>
          </p:cNvPr>
          <p:cNvPicPr>
            <a:picLocks noChangeAspect="1"/>
          </p:cNvPicPr>
          <p:nvPr/>
        </p:nvPicPr>
        <p:blipFill>
          <a:blip r:embed="rId2"/>
          <a:stretch>
            <a:fillRect/>
          </a:stretch>
        </p:blipFill>
        <p:spPr>
          <a:xfrm>
            <a:off x="6721342" y="-67000"/>
            <a:ext cx="5111645" cy="1762636"/>
          </a:xfrm>
          <a:prstGeom prst="rect">
            <a:avLst/>
          </a:prstGeom>
        </p:spPr>
      </p:pic>
    </p:spTree>
    <p:extLst>
      <p:ext uri="{BB962C8B-B14F-4D97-AF65-F5344CB8AC3E}">
        <p14:creationId xmlns:p14="http://schemas.microsoft.com/office/powerpoint/2010/main" val="2169482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C0AD47D-4166-4745-BC6E-5192F95D4360}"/>
              </a:ext>
            </a:extLst>
          </p:cNvPr>
          <p:cNvPicPr>
            <a:picLocks noChangeAspect="1"/>
          </p:cNvPicPr>
          <p:nvPr/>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1008245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016B-F3DA-4C57-867F-BE59566AA6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MARKETING PAGE: </a:t>
            </a:r>
          </a:p>
        </p:txBody>
      </p:sp>
      <p:sp>
        <p:nvSpPr>
          <p:cNvPr id="6" name="TextBox 5">
            <a:extLst>
              <a:ext uri="{FF2B5EF4-FFF2-40B4-BE49-F238E27FC236}">
                <a16:creationId xmlns:a16="http://schemas.microsoft.com/office/drawing/2014/main" id="{63BAD286-F219-43AC-937B-61D4F879451A}"/>
              </a:ext>
            </a:extLst>
          </p:cNvPr>
          <p:cNvSpPr txBox="1"/>
          <p:nvPr/>
        </p:nvSpPr>
        <p:spPr>
          <a:xfrm>
            <a:off x="478403" y="2782463"/>
            <a:ext cx="8798762" cy="3970318"/>
          </a:xfrm>
          <a:prstGeom prst="rect">
            <a:avLst/>
          </a:prstGeom>
          <a:noFill/>
        </p:spPr>
        <p:txBody>
          <a:bodyPr wrap="square" rtlCol="0">
            <a:spAutoFit/>
          </a:bodyPr>
          <a:lstStyle/>
          <a:p>
            <a:pPr marL="285750" indent="-285750">
              <a:buFont typeface="Wingdings" panose="05000000000000000000" pitchFamily="2" charset="2"/>
              <a:buChar char="v"/>
            </a:pPr>
            <a:r>
              <a:rPr lang="en-IN" b="1" dirty="0">
                <a:solidFill>
                  <a:srgbClr val="FFFF00"/>
                </a:solidFill>
                <a:latin typeface="Times New Roman" panose="02020603050405020304" pitchFamily="18" charset="0"/>
                <a:cs typeface="Times New Roman" panose="02020603050405020304" pitchFamily="18" charset="0"/>
              </a:rPr>
              <a:t>Marketing Page is to support and help the Venders and Shopkeepers of INDIA to promote their product and to also support Make in INDIA goods and services . Here end user will get an benefit of Offer Coupons on the product they buy from ABS </a:t>
            </a:r>
          </a:p>
          <a:p>
            <a:pPr marL="285750" indent="-285750">
              <a:buFont typeface="Wingdings" panose="05000000000000000000" pitchFamily="2" charset="2"/>
              <a:buChar char="v"/>
            </a:pPr>
            <a:endParaRPr lang="en-IN" b="1" dirty="0">
              <a:solidFill>
                <a:srgbClr val="FFFF00"/>
              </a:solidFill>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v"/>
            </a:pPr>
            <a:r>
              <a:rPr lang="en-US" b="1" i="0" dirty="0">
                <a:effectLst/>
                <a:latin typeface="Times New Roman" panose="02020603050405020304" pitchFamily="18" charset="0"/>
                <a:cs typeface="Times New Roman" panose="02020603050405020304" pitchFamily="18" charset="0"/>
              </a:rPr>
              <a:t>Liquidity infusion and direct cash transfers into the accounts of laborers and daily-wage earners are helpful for their survival during the lockdown.</a:t>
            </a:r>
          </a:p>
          <a:p>
            <a:pPr marL="285750" indent="-285750" algn="l">
              <a:buFont typeface="Wingdings" panose="05000000000000000000" pitchFamily="2" charset="2"/>
              <a:buChar char="v"/>
            </a:pPr>
            <a:r>
              <a:rPr lang="en-US" b="1" i="0" dirty="0">
                <a:effectLst/>
                <a:latin typeface="Times New Roman" panose="02020603050405020304" pitchFamily="18" charset="0"/>
                <a:cs typeface="Times New Roman" panose="02020603050405020304" pitchFamily="18" charset="0"/>
              </a:rPr>
              <a:t>Long-term modifications in critical sectors keep them globally competitive and attractive.</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solidFill>
                <a:srgbClr val="FFFF00"/>
              </a:solidFill>
              <a:latin typeface="Times New Roman" panose="02020603050405020304" pitchFamily="18" charset="0"/>
              <a:cs typeface="Times New Roman" panose="02020603050405020304" pitchFamily="18" charset="0"/>
            </a:endParaRPr>
          </a:p>
          <a:p>
            <a:endParaRPr lang="en-IN" b="1" dirty="0">
              <a:solidFill>
                <a:srgbClr val="FFFF00"/>
              </a:solidFill>
              <a:latin typeface="Times New Roman" panose="02020603050405020304" pitchFamily="18" charset="0"/>
              <a:cs typeface="Times New Roman" panose="02020603050405020304" pitchFamily="18" charset="0"/>
            </a:endParaRPr>
          </a:p>
          <a:p>
            <a:endParaRPr lang="en-IN" b="1" dirty="0">
              <a:solidFill>
                <a:srgbClr val="FFFF00"/>
              </a:solidFill>
              <a:latin typeface="Times New Roman" panose="02020603050405020304" pitchFamily="18" charset="0"/>
              <a:cs typeface="Times New Roman" panose="02020603050405020304" pitchFamily="18" charset="0"/>
            </a:endParaRPr>
          </a:p>
          <a:p>
            <a:endParaRPr lang="en-IN" b="1" dirty="0">
              <a:solidFill>
                <a:srgbClr val="FFFF0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189F6B3-B524-4576-9567-C3936377DD3C}"/>
              </a:ext>
            </a:extLst>
          </p:cNvPr>
          <p:cNvPicPr>
            <a:picLocks noChangeAspect="1"/>
          </p:cNvPicPr>
          <p:nvPr/>
        </p:nvPicPr>
        <p:blipFill>
          <a:blip r:embed="rId2"/>
          <a:stretch>
            <a:fillRect/>
          </a:stretch>
        </p:blipFill>
        <p:spPr>
          <a:xfrm>
            <a:off x="9638699" y="134737"/>
            <a:ext cx="2466975" cy="1847850"/>
          </a:xfrm>
          <a:prstGeom prst="rect">
            <a:avLst/>
          </a:prstGeom>
        </p:spPr>
      </p:pic>
    </p:spTree>
    <p:extLst>
      <p:ext uri="{BB962C8B-B14F-4D97-AF65-F5344CB8AC3E}">
        <p14:creationId xmlns:p14="http://schemas.microsoft.com/office/powerpoint/2010/main" val="2305272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40E001-7E70-489A-82EA-9BD29069B5EB}"/>
              </a:ext>
            </a:extLst>
          </p:cNvPr>
          <p:cNvPicPr>
            <a:picLocks noChangeAspect="1"/>
          </p:cNvPicPr>
          <p:nvPr/>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119294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016B-F3DA-4C57-867F-BE59566AA6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CONTACT US PAGE: </a:t>
            </a:r>
          </a:p>
        </p:txBody>
      </p:sp>
      <p:sp>
        <p:nvSpPr>
          <p:cNvPr id="6" name="TextBox 5">
            <a:extLst>
              <a:ext uri="{FF2B5EF4-FFF2-40B4-BE49-F238E27FC236}">
                <a16:creationId xmlns:a16="http://schemas.microsoft.com/office/drawing/2014/main" id="{63BAD286-F219-43AC-937B-61D4F879451A}"/>
              </a:ext>
            </a:extLst>
          </p:cNvPr>
          <p:cNvSpPr txBox="1"/>
          <p:nvPr/>
        </p:nvSpPr>
        <p:spPr>
          <a:xfrm>
            <a:off x="478403" y="2782463"/>
            <a:ext cx="8798762" cy="3139321"/>
          </a:xfrm>
          <a:prstGeom prst="rect">
            <a:avLst/>
          </a:prstGeom>
          <a:noFill/>
        </p:spPr>
        <p:txBody>
          <a:bodyPr wrap="square" rtlCol="0">
            <a:spAutoFit/>
          </a:bodyPr>
          <a:lstStyle/>
          <a:p>
            <a:r>
              <a:rPr lang="en-IN" b="1" dirty="0">
                <a:solidFill>
                  <a:srgbClr val="FFFF00"/>
                </a:solidFill>
                <a:latin typeface="Times New Roman" panose="02020603050405020304" pitchFamily="18" charset="0"/>
                <a:cs typeface="Times New Roman" panose="02020603050405020304" pitchFamily="18" charset="0"/>
              </a:rPr>
              <a:t>Contact Us Page is the most important page in terms of end user , through this page end user can Communicate the difficulties faced by him/her to our team . The end user need to fill a particular form to solve his/her query and the form consist of following questions: </a:t>
            </a:r>
          </a:p>
          <a:p>
            <a:endParaRPr lang="en-IN" b="1" dirty="0">
              <a:solidFill>
                <a:srgbClr val="FFFF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Name of the consent person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Email Address of that person</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Subject for the query </a:t>
            </a:r>
          </a:p>
          <a:p>
            <a:pPr marL="285750" indent="-285750">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Query faced by that person</a:t>
            </a:r>
          </a:p>
          <a:p>
            <a:pPr marL="285750" indent="-285750">
              <a:buFont typeface="Wingdings" panose="05000000000000000000" pitchFamily="2" charset="2"/>
              <a:buChar char="v"/>
            </a:pPr>
            <a:endParaRPr lang="en-IN" b="1" dirty="0">
              <a:latin typeface="Times New Roman" panose="02020603050405020304" pitchFamily="18" charset="0"/>
              <a:cs typeface="Times New Roman" panose="02020603050405020304" pitchFamily="18" charset="0"/>
            </a:endParaRPr>
          </a:p>
          <a:p>
            <a:endParaRPr lang="en-IN" b="1" dirty="0">
              <a:solidFill>
                <a:srgbClr val="FFFF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FD39315-31DE-4E37-979A-DB7C2092E870}"/>
              </a:ext>
            </a:extLst>
          </p:cNvPr>
          <p:cNvPicPr>
            <a:picLocks noChangeAspect="1"/>
          </p:cNvPicPr>
          <p:nvPr/>
        </p:nvPicPr>
        <p:blipFill>
          <a:blip r:embed="rId2"/>
          <a:stretch>
            <a:fillRect/>
          </a:stretch>
        </p:blipFill>
        <p:spPr>
          <a:xfrm>
            <a:off x="9828224" y="112354"/>
            <a:ext cx="2147753" cy="2147753"/>
          </a:xfrm>
          <a:prstGeom prst="rect">
            <a:avLst/>
          </a:prstGeom>
        </p:spPr>
      </p:pic>
    </p:spTree>
    <p:extLst>
      <p:ext uri="{BB962C8B-B14F-4D97-AF65-F5344CB8AC3E}">
        <p14:creationId xmlns:p14="http://schemas.microsoft.com/office/powerpoint/2010/main" val="1887913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1EF70F-EEE0-4DCC-96D0-32449BBD99F4}"/>
              </a:ext>
            </a:extLst>
          </p:cNvPr>
          <p:cNvPicPr>
            <a:picLocks noChangeAspect="1"/>
          </p:cNvPicPr>
          <p:nvPr/>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4049873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5659B4-3D71-49D9-ACC1-E43FA72194F4}"/>
              </a:ext>
            </a:extLst>
          </p:cNvPr>
          <p:cNvPicPr>
            <a:picLocks noChangeAspect="1"/>
          </p:cNvPicPr>
          <p:nvPr/>
        </p:nvPicPr>
        <p:blipFill>
          <a:blip r:embed="rId2"/>
          <a:stretch>
            <a:fillRect/>
          </a:stretch>
        </p:blipFill>
        <p:spPr>
          <a:xfrm>
            <a:off x="1777013" y="138343"/>
            <a:ext cx="8637973" cy="6581313"/>
          </a:xfrm>
          <a:prstGeom prst="rect">
            <a:avLst/>
          </a:prstGeom>
        </p:spPr>
      </p:pic>
    </p:spTree>
    <p:extLst>
      <p:ext uri="{BB962C8B-B14F-4D97-AF65-F5344CB8AC3E}">
        <p14:creationId xmlns:p14="http://schemas.microsoft.com/office/powerpoint/2010/main" val="25066818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2F4A21B-80B9-40F1-8308-E0B7F0FE0B09}">
  <ds:schemaRefs>
    <ds:schemaRef ds:uri="http://schemas.microsoft.com/sharepoint/v3/contenttype/forms"/>
  </ds:schemaRefs>
</ds:datastoreItem>
</file>

<file path=customXml/itemProps2.xml><?xml version="1.0" encoding="utf-8"?>
<ds:datastoreItem xmlns:ds="http://schemas.openxmlformats.org/officeDocument/2006/customXml" ds:itemID="{F3E96646-423E-4354-94C2-1A28227BF07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F051B7F-F45F-4FBB-974B-85B568B21B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{9051B542-8C83-4EBA-971D-CA404E16DE84}tf11381587_win32</Template>
  <TotalTime>190</TotalTime>
  <Words>834</Words>
  <Application>Microsoft Office PowerPoint</Application>
  <PresentationFormat>Widescreen</PresentationFormat>
  <Paragraphs>74</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Century Gothic</vt:lpstr>
      <vt:lpstr>Times New Roman</vt:lpstr>
      <vt:lpstr>Wingdings</vt:lpstr>
      <vt:lpstr>Wingdings 2</vt:lpstr>
      <vt:lpstr>Quotable</vt:lpstr>
      <vt:lpstr>AATMNIRBHAR BHART STORE TM </vt:lpstr>
      <vt:lpstr>What does Aatmnirbhar Bhart Store means:</vt:lpstr>
      <vt:lpstr>TEAM MEMBERS FOR THE PROJECT: </vt:lpstr>
      <vt:lpstr>HOME PAGE: </vt:lpstr>
      <vt:lpstr>PowerPoint Presentation</vt:lpstr>
      <vt:lpstr>REGISTER PAGE: </vt:lpstr>
      <vt:lpstr>PowerPoint Presentation</vt:lpstr>
      <vt:lpstr>LOGIN PAGE: </vt:lpstr>
      <vt:lpstr>PowerPoint Presentation</vt:lpstr>
      <vt:lpstr>PRODUCT PAGE: </vt:lpstr>
      <vt:lpstr>PowerPoint Presentation</vt:lpstr>
      <vt:lpstr>MY CART PAGE: </vt:lpstr>
      <vt:lpstr>PowerPoint Presentation</vt:lpstr>
      <vt:lpstr>PAYMENT PAGE: </vt:lpstr>
      <vt:lpstr>PowerPoint Presentation</vt:lpstr>
      <vt:lpstr>MARKETING PAGE: </vt:lpstr>
      <vt:lpstr>PowerPoint Presentation</vt:lpstr>
      <vt:lpstr>CONTACT US PAGE: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AATMNIRBHAR BHART STORE TM</dc:title>
  <dc:creator>ARYA VIRA</dc:creator>
  <cp:lastModifiedBy>ARYA VIRA</cp:lastModifiedBy>
  <cp:revision>38</cp:revision>
  <dcterms:created xsi:type="dcterms:W3CDTF">2020-10-04T14:50:14Z</dcterms:created>
  <dcterms:modified xsi:type="dcterms:W3CDTF">2020-10-08T10:49:02Z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